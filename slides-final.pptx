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GitGuardian/ggtools-mcp-server" TargetMode="External" /><Relationship Id="rId3" Type="http://schemas.openxmlformats.org/officeDocument/2006/relationships/hyperlink" Target="https://github.com/cyberark/conjur-mcp-server" TargetMode="External" /><Relationship Id="rId4" Type="http://schemas.openxmlformats.org/officeDocument/2006/relationships/hyperlink" Target="https://modelcontextprotocol.io" TargetMode="External" /><Relationship Id="rId5" Type="http://schemas.openxmlformats.org/officeDocument/2006/relationships/hyperlink" Target="https://docs.gitguardian.com" TargetMode="External" /><Relationship Id="rId6" Type="http://schemas.openxmlformats.org/officeDocument/2006/relationships/hyperlink" Target="https://docs.cyberark.com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Tackling Secret &amp; Vault Sprawl with AI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GitGuardian + CyberArk MCP Servers in Action</a:t>
            </a:r>
            <a:br/>
            <a:br/>
            <a:r>
              <a:rPr/>
              <a:t>A joint webinar — GitGuardian &amp; CyberArk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Hosts Today</a:t>
            </a:r>
          </a:p>
        </p:txBody>
      </p:sp>
      <p:pic>
        <p:nvPicPr>
          <p:cNvPr descr="mathieu-bellon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Mathieu Bellon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Or Geisler Dwayne McDaniel</a:t>
            </a:r>
          </a:p>
          <a:p>
            <a:pPr lvl="0" indent="0" marL="0">
              <a:buNone/>
            </a:pPr>
            <a:r>
              <a:rPr b="1"/>
              <a:t>Mathieu Bellon</a:t>
            </a:r>
            <a:r>
              <a:rPr/>
              <a:t> — Product Manager, GitGuardian</a:t>
            </a:r>
          </a:p>
          <a:p>
            <a:pPr lvl="0" indent="0" marL="0">
              <a:buNone/>
            </a:pPr>
            <a:r>
              <a:rPr b="1"/>
              <a:t>Or Geisler</a:t>
            </a:r>
            <a:r>
              <a:rPr/>
              <a:t> — Software Engineer, CyberArk</a:t>
            </a:r>
          </a:p>
          <a:p>
            <a:pPr lvl="0" indent="0" marL="0">
              <a:buNone/>
            </a:pPr>
            <a:r>
              <a:rPr b="1"/>
              <a:t>Dwayne McDaniel</a:t>
            </a:r>
            <a:r>
              <a:rPr/>
              <a:t> — Dev Advocate, GitGuardian </a:t>
            </a:r>
            <a:r>
              <a:rPr i="1"/>
              <a:t>(moderator)</a:t>
            </a:r>
          </a:p>
          <a:p>
            <a:pPr lvl="0" indent="0" marL="1270000">
              <a:buNone/>
            </a:pPr>
            <a:r>
              <a:rPr sz="2000" i="1"/>
              <a:t>Questions? Drop them in the chat — we’ll have a live Q&amp;A at the end.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We’ll Cover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Live Demo</a:t>
            </a:r>
            <a:r>
              <a:rPr/>
              <a:t> — Watch AI detect secrets and vault them automatically</a:t>
            </a:r>
          </a:p>
          <a:p>
            <a:pPr lvl="0" indent="-342900" marL="342900">
              <a:buAutoNum type="arabicPeriod"/>
            </a:pPr>
            <a:r>
              <a:rPr b="1"/>
              <a:t>Why We Built This</a:t>
            </a:r>
            <a:r>
              <a:rPr/>
              <a:t> — The rise of NHIs, secret sprawl, and vault sprawl</a:t>
            </a:r>
          </a:p>
          <a:p>
            <a:pPr lvl="0" indent="-342900" marL="342900">
              <a:buAutoNum type="arabicPeriod"/>
            </a:pPr>
            <a:r>
              <a:rPr b="1"/>
              <a:t>The Bigger Picture</a:t>
            </a:r>
            <a:r>
              <a:rPr/>
              <a:t> — Identity-based workloads vs. enterprise reality</a:t>
            </a:r>
          </a:p>
          <a:p>
            <a:pPr lvl="0" indent="-342900" marL="342900">
              <a:buAutoNum type="arabicPeriod"/>
            </a:pPr>
            <a:r>
              <a:rPr b="1"/>
              <a:t>How It Works</a:t>
            </a:r>
            <a:r>
              <a:rPr/>
              <a:t> — GitGuardian &amp; CyberArk MCP servers in action</a:t>
            </a:r>
          </a:p>
          <a:p>
            <a:pPr lvl="0" indent="-342900" marL="342900">
              <a:buAutoNum type="arabicPeriod"/>
            </a:pPr>
            <a:r>
              <a:rPr b="1"/>
              <a:t>Q&amp;A</a:t>
            </a:r>
            <a:r>
              <a:rPr/>
              <a:t> — Your questions answered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you’ll see:</a:t>
            </a:r>
          </a:p>
          <a:p>
            <a:pPr lvl="0"/>
            <a:r>
              <a:rPr/>
              <a:t>AI assistant detects hardcoded secrets in code</a:t>
            </a:r>
          </a:p>
          <a:p>
            <a:pPr lvl="0"/>
            <a:r>
              <a:rPr/>
              <a:t>GitGuardian MCP identifies secret type &amp; risk</a:t>
            </a:r>
          </a:p>
          <a:p>
            <a:pPr lvl="0"/>
            <a:r>
              <a:rPr/>
              <a:t>CyberArk MCP vaults the secret automatically</a:t>
            </a:r>
          </a:p>
          <a:p>
            <a:pPr lvl="0"/>
            <a:r>
              <a:rPr/>
              <a:t>Code is refactored to use environment variables</a:t>
            </a:r>
          </a:p>
          <a:p>
            <a:pPr lvl="0"/>
            <a:r>
              <a:rPr/>
              <a:t>All in real-time, no context switching</a:t>
            </a:r>
          </a:p>
          <a:p>
            <a:pPr lvl="0" indent="0" marL="1270000">
              <a:buNone/>
            </a:pPr>
            <a:r>
              <a:rPr sz="2000" i="1"/>
              <a:t>This isn’t science fiction. It’s available today.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Problem: Secret Sprawl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Secrets are everywhere:</a:t>
            </a:r>
          </a:p>
          <a:p>
            <a:pPr lvl="0"/>
            <a:r>
              <a:rPr/>
              <a:t>API keys in </a:t>
            </a:r>
            <a:r>
              <a:rPr>
                <a:latin typeface="Courier"/>
              </a:rPr>
              <a:t>.env</a:t>
            </a:r>
            <a:r>
              <a:rPr/>
              <a:t> files</a:t>
            </a:r>
          </a:p>
          <a:p>
            <a:pPr lvl="0"/>
            <a:r>
              <a:rPr/>
              <a:t>Database credentials in config files</a:t>
            </a:r>
          </a:p>
          <a:p>
            <a:pPr lvl="0"/>
            <a:r>
              <a:rPr/>
              <a:t>Cloud access keys in CI/CD pipelines</a:t>
            </a:r>
          </a:p>
          <a:p>
            <a:pPr lvl="0"/>
            <a:r>
              <a:rPr/>
              <a:t>Service account tokens in scripts</a:t>
            </a:r>
          </a:p>
          <a:p>
            <a:pPr lvl="0" indent="0" marL="0">
              <a:buNone/>
            </a:pPr>
            <a:r>
              <a:rPr b="1"/>
              <a:t>The reality:</a:t>
            </a:r>
          </a:p>
          <a:p>
            <a:pPr lvl="0"/>
            <a:r>
              <a:rPr/>
              <a:t>10+ million secrets exposed on GitHub </a:t>
            </a:r>
            <a:r>
              <a:rPr b="1"/>
              <a:t>every year</a:t>
            </a:r>
          </a:p>
          <a:p>
            <a:pPr lvl="0"/>
            <a:r>
              <a:rPr/>
              <a:t>Average company: </a:t>
            </a:r>
            <a:r>
              <a:rPr b="1"/>
              <a:t>hundreds of repos</a:t>
            </a:r>
            <a:r>
              <a:rPr/>
              <a:t>, thousands of secrets</a:t>
            </a:r>
          </a:p>
          <a:p>
            <a:pPr lvl="0"/>
            <a:r>
              <a:rPr/>
              <a:t>Developers context-switch between code, vault UI, docs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Problem: Vault Sprawl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Vaults are multiplying:</a:t>
            </a:r>
          </a:p>
          <a:p>
            <a:pPr lvl="0"/>
            <a:r>
              <a:rPr/>
              <a:t>AWS Secrets Manager</a:t>
            </a:r>
          </a:p>
          <a:p>
            <a:pPr lvl="0"/>
            <a:r>
              <a:rPr/>
              <a:t>Azure Key Vault</a:t>
            </a:r>
          </a:p>
          <a:p>
            <a:pPr lvl="0"/>
            <a:r>
              <a:rPr/>
              <a:t>Google Secret Manager</a:t>
            </a:r>
          </a:p>
          <a:p>
            <a:pPr lvl="0"/>
            <a:r>
              <a:rPr/>
              <a:t>HashiCorp Vault</a:t>
            </a:r>
          </a:p>
          <a:p>
            <a:pPr lvl="0"/>
            <a:r>
              <a:rPr/>
              <a:t>CyberArk Conjur</a:t>
            </a:r>
          </a:p>
          <a:p>
            <a:pPr lvl="0"/>
            <a:r>
              <a:rPr/>
              <a:t>Custom in-house solutions</a:t>
            </a:r>
          </a:p>
          <a:p>
            <a:pPr lvl="0" indent="0" marL="0">
              <a:buNone/>
            </a:pPr>
            <a:r>
              <a:rPr b="1"/>
              <a:t>The challenge:</a:t>
            </a:r>
          </a:p>
          <a:p>
            <a:pPr lvl="0"/>
            <a:r>
              <a:rPr/>
              <a:t>Which vault for which secret?</a:t>
            </a:r>
          </a:p>
          <a:p>
            <a:pPr lvl="0"/>
            <a:r>
              <a:rPr/>
              <a:t>What access policies apply?</a:t>
            </a:r>
          </a:p>
          <a:p>
            <a:pPr lvl="0"/>
            <a:r>
              <a:rPr/>
              <a:t>How to rotate credentials?</a:t>
            </a:r>
          </a:p>
          <a:p>
            <a:pPr lvl="0"/>
            <a:r>
              <a:rPr/>
              <a:t>How to track NHI lifecycle?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Non-Human Identities (NHIs)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NHIs outnumber humans 50:1 and growing:</a:t>
            </a:r>
          </a:p>
          <a:p>
            <a:pPr lvl="0"/>
            <a:r>
              <a:rPr/>
              <a:t>Service accounts</a:t>
            </a:r>
          </a:p>
          <a:p>
            <a:pPr lvl="0"/>
            <a:r>
              <a:rPr/>
              <a:t>API keys</a:t>
            </a:r>
          </a:p>
          <a:p>
            <a:pPr lvl="0"/>
            <a:r>
              <a:rPr/>
              <a:t>Machine credentials</a:t>
            </a:r>
          </a:p>
          <a:p>
            <a:pPr lvl="0"/>
            <a:r>
              <a:rPr/>
              <a:t>Bot tokens</a:t>
            </a:r>
          </a:p>
          <a:p>
            <a:pPr lvl="0"/>
            <a:r>
              <a:rPr/>
              <a:t>CI/CD secrets</a:t>
            </a:r>
          </a:p>
          <a:p>
            <a:pPr lvl="0"/>
            <a:r>
              <a:rPr/>
              <a:t>Infrastructure access keys</a:t>
            </a:r>
          </a:p>
          <a:p>
            <a:pPr lvl="0" indent="0" marL="0">
              <a:buNone/>
            </a:pPr>
            <a:r>
              <a:rPr b="1"/>
              <a:t>The governance gap:</a:t>
            </a:r>
          </a:p>
          <a:p>
            <a:pPr lvl="0"/>
            <a:r>
              <a:rPr b="1"/>
              <a:t>Humans:</a:t>
            </a:r>
            <a:r>
              <a:rPr/>
              <a:t> SSO, MFA, role-based access, regular audits</a:t>
            </a:r>
          </a:p>
          <a:p>
            <a:pPr lvl="0"/>
            <a:r>
              <a:rPr b="1"/>
              <a:t>NHIs:</a:t>
            </a:r>
            <a:r>
              <a:rPr/>
              <a:t> Scattered secrets, unclear ownership, no rotation, no lifecycle tracking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Security debt compounds:</a:t>
            </a:r>
          </a:p>
          <a:p>
            <a:pPr lvl="0"/>
            <a:r>
              <a:rPr/>
              <a:t>Leaked secrets → data breaches</a:t>
            </a:r>
          </a:p>
          <a:p>
            <a:pPr lvl="0"/>
            <a:r>
              <a:rPr/>
              <a:t>Unrotated credentials → persistent access</a:t>
            </a:r>
          </a:p>
          <a:p>
            <a:pPr lvl="0"/>
            <a:r>
              <a:rPr/>
              <a:t>Unknown NHIs → shadow infrastructure</a:t>
            </a:r>
          </a:p>
          <a:p>
            <a:pPr lvl="0"/>
            <a:r>
              <a:rPr/>
              <a:t>Manual remediation → weeks of work</a:t>
            </a:r>
          </a:p>
          <a:p>
            <a:pPr lvl="0" indent="0" marL="0">
              <a:buNone/>
            </a:pPr>
            <a:r>
              <a:rPr b="1"/>
              <a:t>The cost:</a:t>
            </a:r>
          </a:p>
          <a:p>
            <a:pPr lvl="0"/>
            <a:r>
              <a:rPr/>
              <a:t>Average breach: </a:t>
            </a:r>
            <a:r>
              <a:rPr b="1"/>
              <a:t>$4.45M</a:t>
            </a:r>
            <a:r>
              <a:rPr/>
              <a:t> (IBM 2023)</a:t>
            </a:r>
          </a:p>
          <a:p>
            <a:pPr lvl="0"/>
            <a:r>
              <a:rPr/>
              <a:t>Time to detect exposed secret: </a:t>
            </a:r>
            <a:r>
              <a:rPr b="1"/>
              <a:t>27 days</a:t>
            </a:r>
            <a:r>
              <a:rPr/>
              <a:t> (GitGuardian)</a:t>
            </a:r>
          </a:p>
          <a:p>
            <a:pPr lvl="0"/>
            <a:r>
              <a:rPr/>
              <a:t>Time to remediate manually: </a:t>
            </a:r>
            <a:r>
              <a:rPr b="1"/>
              <a:t>hours to days per secret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Vision: Identity-Based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ideal world:</a:t>
            </a:r>
          </a:p>
          <a:p>
            <a:pPr lvl="0"/>
            <a:r>
              <a:rPr/>
              <a:t>Every workload has a unique identity</a:t>
            </a:r>
          </a:p>
          <a:p>
            <a:pPr lvl="0"/>
            <a:r>
              <a:rPr/>
              <a:t>Credentials are automatically rotated</a:t>
            </a:r>
          </a:p>
          <a:p>
            <a:pPr lvl="0"/>
            <a:r>
              <a:rPr/>
              <a:t>Access is least-privilege by default</a:t>
            </a:r>
          </a:p>
          <a:p>
            <a:pPr lvl="0"/>
            <a:r>
              <a:rPr/>
              <a:t>Audits are automatic and real-time</a:t>
            </a:r>
          </a:p>
          <a:p>
            <a:pPr lvl="0" indent="0" marL="0">
              <a:buNone/>
            </a:pPr>
            <a:r>
              <a:rPr b="1"/>
              <a:t>The reality:</a:t>
            </a:r>
          </a:p>
          <a:p>
            <a:pPr lvl="0"/>
            <a:r>
              <a:rPr/>
              <a:t>Thousands of legacy secrets in code</a:t>
            </a:r>
          </a:p>
          <a:p>
            <a:pPr lvl="0"/>
            <a:r>
              <a:rPr/>
              <a:t>Dozens of vaults across the organization</a:t>
            </a:r>
          </a:p>
          <a:p>
            <a:pPr lvl="0"/>
            <a:r>
              <a:rPr/>
              <a:t>No single source of truth for NHIs</a:t>
            </a:r>
          </a:p>
          <a:p>
            <a:pPr lvl="0"/>
            <a:r>
              <a:rPr/>
              <a:t>Developers need to keep shipping features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Enter: Model Context Protocol (MCP)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MCP?</a:t>
            </a:r>
          </a:p>
          <a:p>
            <a:pPr lvl="0"/>
            <a:r>
              <a:rPr/>
              <a:t>Open-source standard for AI assistant integration</a:t>
            </a:r>
          </a:p>
          <a:p>
            <a:pPr lvl="0"/>
            <a:r>
              <a:rPr/>
              <a:t>Created by Anthropic (Claude)</a:t>
            </a:r>
          </a:p>
          <a:p>
            <a:pPr lvl="0"/>
            <a:r>
              <a:rPr/>
              <a:t>Think “USB for AI” — one protocol, many capabilities</a:t>
            </a:r>
          </a:p>
          <a:p>
            <a:pPr lvl="0" indent="0" marL="0">
              <a:buNone/>
            </a:pPr>
            <a:r>
              <a:rPr b="1"/>
              <a:t>Why it matters:</a:t>
            </a:r>
          </a:p>
          <a:p>
            <a:pPr lvl="0"/>
            <a:r>
              <a:rPr/>
              <a:t>AI assistants can </a:t>
            </a:r>
            <a:r>
              <a:rPr b="1"/>
              <a:t>read context</a:t>
            </a:r>
            <a:r>
              <a:rPr/>
              <a:t> (code, repos, docs)</a:t>
            </a:r>
          </a:p>
          <a:p>
            <a:pPr lvl="0"/>
            <a:r>
              <a:rPr/>
              <a:t>AI assistants can </a:t>
            </a:r>
            <a:r>
              <a:rPr b="1"/>
              <a:t>take actions</a:t>
            </a:r>
            <a:r>
              <a:rPr/>
              <a:t> (scan, vault, remediate)</a:t>
            </a:r>
          </a:p>
          <a:p>
            <a:pPr lvl="0"/>
            <a:r>
              <a:rPr/>
              <a:t>AI assistants </a:t>
            </a:r>
            <a:r>
              <a:rPr b="1"/>
              <a:t>orchestrate workflows</a:t>
            </a:r>
            <a:r>
              <a:rPr/>
              <a:t> (detect → vault → refactor)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MCP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components:</a:t>
            </a:r>
          </a:p>
          <a:p>
            <a:pPr lvl="0" indent="-342900" marL="342900">
              <a:buAutoNum type="arabicPeriod"/>
            </a:pPr>
            <a:r>
              <a:rPr b="1"/>
              <a:t>MCP Host</a:t>
            </a:r>
            <a:r>
              <a:rPr/>
              <a:t> (Claude, Cursor, Windsurf, Zed)</a:t>
            </a:r>
          </a:p>
          <a:p>
            <a:pPr lvl="1"/>
            <a:r>
              <a:rPr/>
              <a:t>The AI assistant that orchestrates everything</a:t>
            </a:r>
          </a:p>
          <a:p>
            <a:pPr lvl="0" indent="-342900" marL="342900">
              <a:buAutoNum type="arabicPeriod"/>
            </a:pPr>
            <a:r>
              <a:rPr b="1"/>
              <a:t>MCP Client</a:t>
            </a:r>
            <a:r>
              <a:rPr/>
              <a:t> (built into the host)</a:t>
            </a:r>
          </a:p>
          <a:p>
            <a:pPr lvl="1"/>
            <a:r>
              <a:rPr/>
              <a:t>Handles communication with MCP servers</a:t>
            </a:r>
          </a:p>
          <a:p>
            <a:pPr lvl="0" indent="-342900" marL="342900">
              <a:buAutoNum type="arabicPeriod"/>
            </a:pPr>
            <a:r>
              <a:rPr b="1"/>
              <a:t>MCP Servers</a:t>
            </a:r>
            <a:r>
              <a:rPr/>
              <a:t> (GitGuardian, CyberArk, etc.)</a:t>
            </a:r>
          </a:p>
          <a:p>
            <a:pPr lvl="1"/>
            <a:r>
              <a:rPr/>
              <a:t>Expose capabilities as “tools” the AI can use</a:t>
            </a:r>
          </a:p>
          <a:p>
            <a:pPr lvl="0" indent="0" marL="0">
              <a:buNone/>
            </a:pPr>
            <a:r>
              <a:rPr b="1"/>
              <a:t>The magic:</a:t>
            </a:r>
            <a:r>
              <a:rPr/>
              <a:t> AI orchestrates multiple servers in a single workflow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GitGuardian MCP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Capabilities:</a:t>
            </a:r>
          </a:p>
          <a:p>
            <a:pPr lvl="0"/>
            <a:r>
              <a:rPr b="1"/>
              <a:t>Scan</a:t>
            </a:r>
            <a:r>
              <a:rPr/>
              <a:t> — Detect 500+ secret types in code before commit</a:t>
            </a:r>
          </a:p>
          <a:p>
            <a:pPr lvl="0"/>
            <a:r>
              <a:rPr b="1"/>
              <a:t>Remediate</a:t>
            </a:r>
            <a:r>
              <a:rPr/>
              <a:t> — Get step-by-step fix instructions</a:t>
            </a:r>
          </a:p>
          <a:p>
            <a:pPr lvl="0"/>
            <a:r>
              <a:rPr b="1"/>
              <a:t>Monitor</a:t>
            </a:r>
            <a:r>
              <a:rPr/>
              <a:t> — Track incidents across all repos</a:t>
            </a:r>
          </a:p>
          <a:p>
            <a:pPr lvl="0"/>
            <a:r>
              <a:rPr b="1"/>
              <a:t>Honeytoken</a:t>
            </a:r>
            <a:r>
              <a:rPr/>
              <a:t> — Generate &amp; hide canary tokens</a:t>
            </a:r>
          </a:p>
          <a:p>
            <a:pPr lvl="0" indent="0" marL="0">
              <a:buNone/>
            </a:pPr>
            <a:r>
              <a:rPr b="1"/>
              <a:t>Use cases:</a:t>
            </a:r>
          </a:p>
          <a:p>
            <a:pPr lvl="0"/>
            <a:r>
              <a:rPr/>
              <a:t>Pre-commit secret detection in your IDE</a:t>
            </a:r>
          </a:p>
          <a:p>
            <a:pPr lvl="0"/>
            <a:r>
              <a:rPr/>
              <a:t>AI-guided remediation during code review</a:t>
            </a:r>
          </a:p>
          <a:p>
            <a:pPr lvl="0"/>
            <a:r>
              <a:rPr/>
              <a:t>Automated secret audits across repos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CyberArk Conjur MCP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Capabilities:</a:t>
            </a:r>
          </a:p>
          <a:p>
            <a:pPr lvl="0"/>
            <a:r>
              <a:rPr b="1"/>
              <a:t>Vault Management</a:t>
            </a:r>
            <a:r>
              <a:rPr/>
              <a:t> — Store secrets with proper policies</a:t>
            </a:r>
          </a:p>
          <a:p>
            <a:pPr lvl="0"/>
            <a:r>
              <a:rPr b="1"/>
              <a:t>Secret Retrieval</a:t>
            </a:r>
            <a:r>
              <a:rPr/>
              <a:t> — Fetch credentials programmatically</a:t>
            </a:r>
          </a:p>
          <a:p>
            <a:pPr lvl="0"/>
            <a:r>
              <a:rPr b="1"/>
              <a:t>Access Control</a:t>
            </a:r>
            <a:r>
              <a:rPr/>
              <a:t> — Enforce least-privilege policies</a:t>
            </a:r>
          </a:p>
          <a:p>
            <a:pPr lvl="0"/>
            <a:r>
              <a:rPr b="1"/>
              <a:t>Audit Trail</a:t>
            </a:r>
            <a:r>
              <a:rPr/>
              <a:t> — Track all secret access events</a:t>
            </a:r>
          </a:p>
          <a:p>
            <a:pPr lvl="0" indent="0" marL="0">
              <a:buNone/>
            </a:pPr>
            <a:r>
              <a:rPr b="1"/>
              <a:t>Use cases:</a:t>
            </a:r>
          </a:p>
          <a:p>
            <a:pPr lvl="0"/>
            <a:r>
              <a:rPr/>
              <a:t>Auto-vault detected secrets with correct policies</a:t>
            </a:r>
          </a:p>
          <a:p>
            <a:pPr lvl="0"/>
            <a:r>
              <a:rPr/>
              <a:t>Retrieve secrets for local dev/test</a:t>
            </a:r>
          </a:p>
          <a:p>
            <a:pPr lvl="0"/>
            <a:r>
              <a:rPr/>
              <a:t>Rotate credentials without manual work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It Works: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Step 1: AI scans code for secrets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Before</a:t>
            </a:r>
            <a:br/>
            <a:r>
              <a:rPr>
                <a:latin typeface="Courier"/>
              </a:rPr>
              <a:t>DATABASE_URL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"postgresql://admin:MyP@ssw0rd@db.example.com/prod"</a:t>
            </a:r>
          </a:p>
          <a:p>
            <a:pPr lvl="0" indent="0" marL="0">
              <a:buNone/>
            </a:pPr>
            <a:r>
              <a:rPr b="1"/>
              <a:t>Step 2: GitGuardian MCP identifies the secret</a:t>
            </a:r>
          </a:p>
          <a:p>
            <a:pPr lvl="0"/>
            <a:r>
              <a:rPr/>
              <a:t>Type: PostgreSQL connection string</a:t>
            </a:r>
          </a:p>
          <a:p>
            <a:pPr lvl="0"/>
            <a:r>
              <a:rPr/>
              <a:t>Severity: High</a:t>
            </a:r>
          </a:p>
          <a:p>
            <a:pPr lvl="0"/>
            <a:r>
              <a:rPr/>
              <a:t>Location: </a:t>
            </a:r>
            <a:r>
              <a:rPr>
                <a:latin typeface="Courier"/>
              </a:rPr>
              <a:t>config.py:12</a:t>
            </a:r>
          </a:p>
          <a:p>
            <a:pPr lvl="0"/>
            <a:r>
              <a:rPr/>
              <a:t>Recommendation: Vault + environment variable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It Works: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Step 3: CyberArk MCP vaults the secret</a:t>
            </a:r>
          </a:p>
          <a:p>
            <a:pPr lvl="0"/>
            <a:r>
              <a:rPr/>
              <a:t>Creates </a:t>
            </a:r>
            <a:r>
              <a:rPr>
                <a:latin typeface="Courier"/>
              </a:rPr>
              <a:t>prod/database/postgres_url</a:t>
            </a:r>
            <a:r>
              <a:rPr/>
              <a:t> in Conjur</a:t>
            </a:r>
          </a:p>
          <a:p>
            <a:pPr lvl="0"/>
            <a:r>
              <a:rPr/>
              <a:t>Sets access policy: </a:t>
            </a:r>
            <a:r>
              <a:rPr>
                <a:latin typeface="Courier"/>
              </a:rPr>
              <a:t>prod-api-service</a:t>
            </a:r>
            <a:r>
              <a:rPr/>
              <a:t> role</a:t>
            </a:r>
          </a:p>
          <a:p>
            <a:pPr lvl="0"/>
            <a:r>
              <a:rPr/>
              <a:t>Returns environment variable name: </a:t>
            </a:r>
            <a:r>
              <a:rPr>
                <a:latin typeface="Courier"/>
              </a:rPr>
              <a:t>DATABASE_URL</a:t>
            </a:r>
          </a:p>
          <a:p>
            <a:pPr lvl="0" indent="0" marL="0">
              <a:buNone/>
            </a:pPr>
            <a:r>
              <a:rPr b="1"/>
              <a:t>Step 4: AI refactors the code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After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os</a:t>
            </a:r>
            <a:br/>
            <a:r>
              <a:rPr>
                <a:latin typeface="Courier"/>
              </a:rPr>
              <a:t>DATABASE_URL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os.getenv(</a:t>
            </a:r>
            <a:r>
              <a:rPr>
                <a:solidFill>
                  <a:srgbClr val="4070A0"/>
                </a:solidFill>
                <a:latin typeface="Courier"/>
              </a:rPr>
              <a:t>"DATABASE_URL"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Step 5: AI creates </a:t>
            </a:r>
            <a:r>
              <a:rPr b="1">
                <a:latin typeface="Courier"/>
              </a:rPr>
              <a:t>.env.example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DATABASE_URL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postgresql://user:password@host/dbname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Developer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Before MCP:</a:t>
            </a:r>
          </a:p>
          <a:p>
            <a:pPr lvl="0" indent="-342900" marL="342900">
              <a:buAutoNum type="arabicPeriod"/>
            </a:pPr>
            <a:r>
              <a:rPr/>
              <a:t>Write code with hardcoded secret</a:t>
            </a:r>
          </a:p>
          <a:p>
            <a:pPr lvl="0" indent="-342900" marL="342900">
              <a:buAutoNum type="arabicPeriod"/>
            </a:pPr>
            <a:r>
              <a:rPr/>
              <a:t>Commit → CI fails → secret detected</a:t>
            </a:r>
          </a:p>
          <a:p>
            <a:pPr lvl="0" indent="-342900" marL="342900">
              <a:buAutoNum type="arabicPeriod"/>
            </a:pPr>
            <a:r>
              <a:rPr/>
              <a:t>Context switch to GitGuardian dashboard</a:t>
            </a:r>
          </a:p>
          <a:p>
            <a:pPr lvl="0" indent="-342900" marL="342900">
              <a:buAutoNum type="arabicPeriod"/>
            </a:pPr>
            <a:r>
              <a:rPr/>
              <a:t>Context switch to CyberArk vault UI</a:t>
            </a:r>
          </a:p>
          <a:p>
            <a:pPr lvl="0" indent="-342900" marL="342900">
              <a:buAutoNum type="arabicPeriod"/>
            </a:pPr>
            <a:r>
              <a:rPr/>
              <a:t>Manually vault the secret</a:t>
            </a:r>
          </a:p>
          <a:p>
            <a:pPr lvl="0" indent="-342900" marL="342900">
              <a:buAutoNum type="arabicPeriod"/>
            </a:pPr>
            <a:r>
              <a:rPr/>
              <a:t>Update code to use environment variable</a:t>
            </a:r>
          </a:p>
          <a:p>
            <a:pPr lvl="0" indent="-342900" marL="342900">
              <a:buAutoNum type="arabicPeriod"/>
            </a:pPr>
            <a:r>
              <a:rPr/>
              <a:t>Update CI/CD config</a:t>
            </a:r>
          </a:p>
          <a:p>
            <a:pPr lvl="0" indent="-342900" marL="342900">
              <a:buAutoNum type="arabicPeriod"/>
            </a:pPr>
            <a:r>
              <a:rPr/>
              <a:t>Commit again</a:t>
            </a:r>
          </a:p>
          <a:p>
            <a:pPr lvl="0" indent="0" marL="0">
              <a:buNone/>
            </a:pPr>
            <a:r>
              <a:rPr b="1"/>
              <a:t>With MCP:</a:t>
            </a:r>
          </a:p>
          <a:p>
            <a:pPr lvl="0" indent="-342900" marL="342900">
              <a:buAutoNum type="arabicPeriod"/>
            </a:pPr>
            <a:r>
              <a:rPr/>
              <a:t>Write code with hardcoded secret</a:t>
            </a:r>
          </a:p>
          <a:p>
            <a:pPr lvl="0" indent="-342900" marL="342900">
              <a:buAutoNum type="arabicPeriod"/>
            </a:pPr>
            <a:r>
              <a:rPr/>
              <a:t>AI detects → vaults → refactors</a:t>
            </a:r>
          </a:p>
          <a:p>
            <a:pPr lvl="0" indent="-342900" marL="342900">
              <a:buAutoNum type="arabicPeriod"/>
            </a:pPr>
            <a:r>
              <a:rPr/>
              <a:t>Review and commit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challenges:</a:t>
            </a:r>
          </a:p>
          <a:p>
            <a:pPr lvl="0"/>
            <a:r>
              <a:rPr b="1"/>
              <a:t>Scale:</a:t>
            </a:r>
            <a:r>
              <a:rPr/>
              <a:t> Thousands of repos, millions of lines of code</a:t>
            </a:r>
          </a:p>
          <a:p>
            <a:pPr lvl="0"/>
            <a:r>
              <a:rPr b="1"/>
              <a:t>Legacy:</a:t>
            </a:r>
            <a:r>
              <a:rPr/>
              <a:t> Years of accumulated secrets in git history</a:t>
            </a:r>
          </a:p>
          <a:p>
            <a:pPr lvl="0"/>
            <a:r>
              <a:rPr b="1"/>
              <a:t>Complexity:</a:t>
            </a:r>
            <a:r>
              <a:rPr/>
              <a:t> Multiple vaults, inconsistent policies</a:t>
            </a:r>
          </a:p>
          <a:p>
            <a:pPr lvl="0"/>
            <a:r>
              <a:rPr b="1"/>
              <a:t>Governance:</a:t>
            </a:r>
            <a:r>
              <a:rPr/>
              <a:t> Who owns what? What needs rotation?</a:t>
            </a:r>
          </a:p>
          <a:p>
            <a:pPr lvl="0" indent="0" marL="0">
              <a:buNone/>
            </a:pPr>
            <a:r>
              <a:rPr b="1"/>
              <a:t>What’s needed:</a:t>
            </a:r>
          </a:p>
          <a:p>
            <a:pPr lvl="0"/>
            <a:r>
              <a:rPr b="1"/>
              <a:t>Find it</a:t>
            </a:r>
            <a:r>
              <a:rPr/>
              <a:t> — Continuous detection across all code</a:t>
            </a:r>
          </a:p>
          <a:p>
            <a:pPr lvl="0"/>
            <a:r>
              <a:rPr b="1"/>
              <a:t>Fix it</a:t>
            </a:r>
            <a:r>
              <a:rPr/>
              <a:t> — Automated remediation at scale</a:t>
            </a:r>
          </a:p>
          <a:p>
            <a:pPr lvl="0"/>
            <a:r>
              <a:rPr b="1"/>
              <a:t>Sustain it</a:t>
            </a:r>
            <a:r>
              <a:rPr/>
              <a:t> — Lifecycle management for all NHIs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 It. Fix It. Sustain It.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Find it.</a:t>
            </a:r>
            <a:r>
              <a:rPr/>
              <a:t> Detect exposed secrets and risky patterns with GitGuardian’s 500+ detectors — in your IDE, in CI/CD, across all repos.</a:t>
            </a:r>
          </a:p>
          <a:p>
            <a:pPr lvl="0" indent="0" marL="0">
              <a:buNone/>
            </a:pPr>
            <a:r>
              <a:rPr b="1"/>
              <a:t>Fix it.</a:t>
            </a:r>
            <a:r>
              <a:rPr/>
              <a:t> AI uses CyberArk Conjur MCP to vault secrets with the right policies, automatically. From detection to remediation in seconds — no context switching.</a:t>
            </a:r>
          </a:p>
          <a:p>
            <a:pPr lvl="0" indent="0" marL="0">
              <a:buNone/>
            </a:pPr>
            <a:r>
              <a:rPr b="1"/>
              <a:t>Sustain it.</a:t>
            </a:r>
            <a:r>
              <a:rPr/>
              <a:t> Make it continuous. Monitor for regressions, enforce rotation, track NHI lifecycle — even as teams, repos, and vaults scale across the enterprise.</a:t>
            </a:r>
          </a:p>
          <a:p>
            <a:pPr lvl="0" indent="0" marL="1270000">
              <a:buNone/>
            </a:pPr>
            <a:r>
              <a:rPr sz="2000" i="1"/>
              <a:t>One workflow. Two MCP servers. A secure-by-default developer experience.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Secret &amp; vault sprawl is real</a:t>
            </a:r>
            <a:r>
              <a:rPr/>
              <a:t> — NHIs outnumber humans 50:1 and growing</a:t>
            </a:r>
          </a:p>
          <a:p>
            <a:pPr lvl="0" indent="-342900" marL="342900">
              <a:buAutoNum type="arabicPeriod"/>
            </a:pPr>
            <a:r>
              <a:rPr b="1"/>
              <a:t>Find it</a:t>
            </a:r>
            <a:r>
              <a:rPr/>
              <a:t> — GitGuardian detects secrets in your IDE, before they reach git</a:t>
            </a:r>
          </a:p>
          <a:p>
            <a:pPr lvl="0" indent="-342900" marL="342900">
              <a:buAutoNum type="arabicPeriod"/>
            </a:pPr>
            <a:r>
              <a:rPr b="1"/>
              <a:t>Fix it</a:t>
            </a:r>
            <a:r>
              <a:rPr/>
              <a:t> — CyberArk Conjur vaults them automatically via MCP, no context switching</a:t>
            </a:r>
          </a:p>
          <a:p>
            <a:pPr lvl="0" indent="-342900" marL="342900">
              <a:buAutoNum type="arabicPeriod"/>
            </a:pPr>
            <a:r>
              <a:rPr b="1"/>
              <a:t>Sustain it</a:t>
            </a:r>
            <a:r>
              <a:rPr/>
              <a:t> — continuous monitoring, rotation enforcement, and governance at scale</a:t>
            </a:r>
          </a:p>
          <a:p>
            <a:pPr lvl="0" indent="-342900" marL="342900">
              <a:buAutoNum type="arabicPeriod"/>
            </a:pPr>
            <a:r>
              <a:rPr b="1"/>
              <a:t>MCP is the glue</a:t>
            </a:r>
            <a:r>
              <a:rPr/>
              <a:t> — AI agents orchestrate both, so developers focus on code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Try it yourself:</a:t>
            </a:r>
          </a:p>
          <a:p>
            <a:pPr lvl="0"/>
            <a:r>
              <a:rPr/>
              <a:t>GitGuardian MCP: </a:t>
            </a:r>
            <a:r>
              <a:rPr>
                <a:hlinkClick r:id="rId2"/>
              </a:rPr>
              <a:t>github.com/GitGuardian/ggtools-mcp-server</a:t>
            </a:r>
          </a:p>
          <a:p>
            <a:pPr lvl="0"/>
            <a:r>
              <a:rPr/>
              <a:t>CyberArk Conjur MCP: </a:t>
            </a:r>
            <a:r>
              <a:rPr>
                <a:hlinkClick r:id="rId3"/>
              </a:rPr>
              <a:t>github.com/cyberark/conjur-mcp-server</a:t>
            </a:r>
          </a:p>
          <a:p>
            <a:pPr lvl="0" indent="0" marL="0">
              <a:buNone/>
            </a:pPr>
            <a:r>
              <a:rPr b="1"/>
              <a:t>Resources:</a:t>
            </a:r>
          </a:p>
          <a:p>
            <a:pPr lvl="0"/>
            <a:r>
              <a:rPr/>
              <a:t>MCP Specification: </a:t>
            </a:r>
            <a:r>
              <a:rPr>
                <a:hlinkClick r:id="rId4"/>
              </a:rPr>
              <a:t>modelcontextprotocol.io</a:t>
            </a:r>
          </a:p>
          <a:p>
            <a:pPr lvl="0"/>
            <a:r>
              <a:rPr/>
              <a:t>GitGuardian Docs: </a:t>
            </a:r>
            <a:r>
              <a:rPr>
                <a:hlinkClick r:id="rId5"/>
              </a:rPr>
              <a:t>docs.gitguardian.com</a:t>
            </a:r>
          </a:p>
          <a:p>
            <a:pPr lvl="0"/>
            <a:r>
              <a:rPr/>
              <a:t>CyberArk Docs: </a:t>
            </a:r>
            <a:r>
              <a:rPr>
                <a:hlinkClick r:id="rId6"/>
              </a:rPr>
              <a:t>docs.cyberark.com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Drop your questions in the chat</a:t>
            </a:r>
          </a:p>
          <a:p>
            <a:pPr lvl="0" indent="0" marL="0">
              <a:buNone/>
            </a:pPr>
            <a:r>
              <a:rPr/>
              <a:t>We’re here to answer anything about:</a:t>
            </a:r>
          </a:p>
          <a:p>
            <a:pPr lvl="0"/>
            <a:r>
              <a:rPr/>
              <a:t>MCP architecture &amp; integration</a:t>
            </a:r>
          </a:p>
          <a:p>
            <a:pPr lvl="0"/>
            <a:r>
              <a:rPr/>
              <a:t>GitGuardian secret detection</a:t>
            </a:r>
          </a:p>
          <a:p>
            <a:pPr lvl="0"/>
            <a:r>
              <a:rPr/>
              <a:t>CyberArk Conjur vaulting</a:t>
            </a:r>
          </a:p>
          <a:p>
            <a:pPr lvl="0"/>
            <a:r>
              <a:rPr/>
              <a:t>Enterprise deployment strategies</a:t>
            </a:r>
          </a:p>
          <a:p>
            <a:pPr lvl="0"/>
            <a:r>
              <a:rPr/>
              <a:t>Your specific use cases</a:t>
            </a:r>
          </a:p>
          <a:p>
            <a:pPr lvl="0" indent="0" marL="1270000">
              <a:buNone/>
            </a:pPr>
            <a:r>
              <a:rPr sz="2000" i="1"/>
              <a:t>Thank you for joining us today!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Tackling Secret &amp; Vault Sprawl with AI</dc:title>
  <dc:creator>A joint webinar — GitGuardian &amp; CyberArk</dc:creator>
  <cp:keywords/>
  <dcterms:created xsi:type="dcterms:W3CDTF">2026-02-18T15:01:03Z</dcterms:created>
  <dcterms:modified xsi:type="dcterms:W3CDTF">2026-02-18T15:01:03Z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GitGuardian + CyberArk MCP Servers in Action</vt:lpwstr>
  </property>
</Properties>
</file>